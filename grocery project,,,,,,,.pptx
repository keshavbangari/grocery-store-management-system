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342" r:id="rId3"/>
    <p:sldId id="305" r:id="rId4"/>
    <p:sldId id="307" r:id="rId5"/>
    <p:sldId id="308" r:id="rId6"/>
    <p:sldId id="343" r:id="rId7"/>
    <p:sldId id="345" r:id="rId8"/>
    <p:sldId id="346" r:id="rId9"/>
    <p:sldId id="334" r:id="rId10"/>
    <p:sldId id="267" r:id="rId11"/>
    <p:sldId id="266" r:id="rId12"/>
    <p:sldId id="273" r:id="rId13"/>
    <p:sldId id="274" r:id="rId14"/>
    <p:sldId id="330" r:id="rId15"/>
    <p:sldId id="331" r:id="rId16"/>
    <p:sldId id="316" r:id="rId17"/>
    <p:sldId id="271" r:id="rId18"/>
    <p:sldId id="259" r:id="rId19"/>
  </p:sldIdLst>
  <p:sldSz cx="12192000" cy="6858000"/>
  <p:notesSz cx="6858000" cy="9144000"/>
  <p:embeddedFontLst>
    <p:embeddedFont>
      <p:font typeface="Lato Black" panose="020F0502020204030203" pitchFamily="34" charset="0"/>
      <p:bold r:id="rId21"/>
      <p:boldItalic r:id="rId22"/>
    </p:embeddedFont>
    <p:embeddedFont>
      <p:font typeface="Libre Baskerville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57" autoAdjust="0"/>
    <p:restoredTop sz="94660"/>
  </p:normalViewPr>
  <p:slideViewPr>
    <p:cSldViewPr snapToGrid="0">
      <p:cViewPr varScale="1">
        <p:scale>
          <a:sx n="65" d="100"/>
          <a:sy n="65" d="100"/>
        </p:scale>
        <p:origin x="5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eshavbangari" TargetMode="External"/><Relationship Id="rId2" Type="http://schemas.openxmlformats.org/officeDocument/2006/relationships/hyperlink" Target="https://www.linkedin.com/in/keshav-bangari-058062312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9427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539225" y="3581781"/>
            <a:ext cx="7113548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GROCERY STORE MANAGEMENT SYSTEM</a:t>
            </a:r>
          </a:p>
          <a:p>
            <a:pPr lvl="0" algn="ctr"/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8505BD-8659-CBA3-EE4A-203767FCA1AD}"/>
              </a:ext>
            </a:extLst>
          </p:cNvPr>
          <p:cNvSpPr txBox="1"/>
          <p:nvPr/>
        </p:nvSpPr>
        <p:spPr>
          <a:xfrm>
            <a:off x="9198429" y="4827821"/>
            <a:ext cx="24166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Presented By:</a:t>
            </a:r>
          </a:p>
          <a:p>
            <a:r>
              <a:rPr lang="en-US" sz="1800" dirty="0" err="1">
                <a:solidFill>
                  <a:schemeClr val="tx1"/>
                </a:solidFill>
              </a:rPr>
              <a:t>B.Keshav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Batch no: 493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8F083-38FC-E0CC-64FE-0DED71F0A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35075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me:</a:t>
            </a:r>
            <a:br>
              <a:rPr lang="en-IN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2FB72-E1CE-51C2-46F8-38857F8AF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04257"/>
            <a:ext cx="10515600" cy="4772706"/>
          </a:xfrm>
        </p:spPr>
        <p:txBody>
          <a:bodyPr/>
          <a:lstStyle/>
          <a:p>
            <a:r>
              <a:rPr lang="en-US" b="1" dirty="0"/>
              <a:t>Background</a:t>
            </a:r>
            <a:r>
              <a:rPr lang="en-US" dirty="0"/>
              <a:t>: B.TECH – CSE(DS)</a:t>
            </a:r>
          </a:p>
          <a:p>
            <a:r>
              <a:rPr lang="en-US" b="1" dirty="0"/>
              <a:t>Course</a:t>
            </a:r>
            <a:r>
              <a:rPr lang="en-US" dirty="0"/>
              <a:t>: Data Analytics (</a:t>
            </a:r>
            <a:r>
              <a:rPr lang="en-US" dirty="0" err="1"/>
              <a:t>Innomatics</a:t>
            </a:r>
            <a:r>
              <a:rPr lang="en-US" dirty="0"/>
              <a:t> Research Labs)</a:t>
            </a:r>
          </a:p>
          <a:p>
            <a:r>
              <a:rPr lang="en-US" b="1" dirty="0"/>
              <a:t>Why Data Analytics : </a:t>
            </a:r>
            <a:r>
              <a:rPr lang="en-US" dirty="0"/>
              <a:t>I am interested in Data Analytics because it helps transform data into meaningful insights that support better business decisions.</a:t>
            </a:r>
            <a:r>
              <a:rPr lang="en-US" b="1" dirty="0"/>
              <a:t> </a:t>
            </a:r>
          </a:p>
          <a:p>
            <a:r>
              <a:rPr lang="en-US" b="1" dirty="0" err="1"/>
              <a:t>Linkedin</a:t>
            </a:r>
            <a:r>
              <a:rPr lang="en-US" b="1" dirty="0"/>
              <a:t> </a:t>
            </a:r>
            <a:r>
              <a:rPr lang="en-US" dirty="0"/>
              <a:t>:</a:t>
            </a:r>
            <a:r>
              <a:rPr lang="en-US" dirty="0">
                <a:hlinkClick r:id="rId2"/>
              </a:rPr>
              <a:t>https://www.linkedin.com/in/keshav-bangari-058062312</a:t>
            </a:r>
            <a:endParaRPr lang="en-US" dirty="0"/>
          </a:p>
          <a:p>
            <a:r>
              <a:rPr lang="en-US" b="1" dirty="0" err="1"/>
              <a:t>Github</a:t>
            </a:r>
            <a:r>
              <a:rPr lang="en-US" b="1" dirty="0"/>
              <a:t> </a:t>
            </a:r>
            <a:r>
              <a:rPr lang="en-US" dirty="0"/>
              <a:t>:</a:t>
            </a:r>
            <a:r>
              <a:rPr lang="en-US" dirty="0">
                <a:hlinkClick r:id="rId3"/>
              </a:rPr>
              <a:t>https://github.com/</a:t>
            </a:r>
            <a:r>
              <a:rPr lang="en-US" dirty="0" err="1">
                <a:hlinkClick r:id="rId3"/>
              </a:rPr>
              <a:t>keshavbangari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27900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79D3F-7B40-3436-2515-3815A782C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1"/>
            <a:ext cx="10515600" cy="79465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Agenda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3A6C4-B5C2-CBA2-BEC9-895CD09E5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74914"/>
            <a:ext cx="10515600" cy="5301343"/>
          </a:xfrm>
        </p:spPr>
        <p:txBody>
          <a:bodyPr>
            <a:normAutofit/>
          </a:bodyPr>
          <a:lstStyle/>
          <a:p>
            <a:endParaRPr lang="en-US" sz="1800" b="1" dirty="0"/>
          </a:p>
          <a:p>
            <a:r>
              <a:rPr lang="en-US" b="1" dirty="0"/>
              <a:t>Business Problem</a:t>
            </a:r>
          </a:p>
          <a:p>
            <a:r>
              <a:rPr lang="en-US" b="1" dirty="0"/>
              <a:t>Problem Statement</a:t>
            </a:r>
          </a:p>
          <a:p>
            <a:r>
              <a:rPr lang="en-US" b="1" dirty="0">
                <a:solidFill>
                  <a:schemeClr val="tx1"/>
                </a:solidFill>
              </a:rPr>
              <a:t>ER Diagram </a:t>
            </a:r>
          </a:p>
          <a:p>
            <a:r>
              <a:rPr lang="en-US" b="1" dirty="0"/>
              <a:t>Queries</a:t>
            </a:r>
          </a:p>
          <a:p>
            <a:r>
              <a:rPr lang="en-US" b="1" dirty="0"/>
              <a:t>Key Insights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Recommendations</a:t>
            </a:r>
          </a:p>
          <a:p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400726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2D8B4-0C12-218E-21BA-A56D6739B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266"/>
            <a:ext cx="11006559" cy="1158569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Business Problem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2B15B-8F8A-2275-4852-C3BA8E0FB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0486" y="1621971"/>
            <a:ext cx="11224273" cy="4267199"/>
          </a:xfrm>
        </p:spPr>
        <p:txBody>
          <a:bodyPr>
            <a:normAutofit/>
          </a:bodyPr>
          <a:lstStyle/>
          <a:p>
            <a:r>
              <a:rPr lang="en-IN" sz="2400" dirty="0"/>
              <a:t>Manual recording of sales and inventory causes errors. </a:t>
            </a:r>
          </a:p>
          <a:p>
            <a:r>
              <a:rPr lang="en-IN" sz="2400" dirty="0"/>
              <a:t>Difficulty tracking stock availability and product quantity. </a:t>
            </a:r>
          </a:p>
          <a:p>
            <a:r>
              <a:rPr lang="en-IN" sz="2400" dirty="0"/>
              <a:t>Frequent </a:t>
            </a:r>
            <a:r>
              <a:rPr lang="en-IN" sz="2400" b="1" dirty="0"/>
              <a:t>stock shortages</a:t>
            </a:r>
            <a:r>
              <a:rPr lang="en-IN" sz="2400" dirty="0"/>
              <a:t> or </a:t>
            </a:r>
            <a:r>
              <a:rPr lang="en-IN" sz="2400" b="1" dirty="0"/>
              <a:t>overstock situations</a:t>
            </a:r>
            <a:r>
              <a:rPr lang="en-IN" sz="2400" dirty="0"/>
              <a:t>. </a:t>
            </a:r>
          </a:p>
          <a:p>
            <a:r>
              <a:rPr lang="en-IN" sz="2400" dirty="0"/>
              <a:t>Time-consuming billing and checkout process. </a:t>
            </a:r>
          </a:p>
          <a:p>
            <a:r>
              <a:rPr lang="en-IN" sz="2400" dirty="0"/>
              <a:t>Lack of proper customer and supplier management.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49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750DD-C952-81A6-4AE9-35AE75232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52400"/>
            <a:ext cx="10515600" cy="1393371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Problem Statement: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CC605-E0BF-5A28-86E9-88BF7D32C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21971"/>
            <a:ext cx="10515600" cy="2635397"/>
          </a:xfrm>
        </p:spPr>
        <p:txBody>
          <a:bodyPr>
            <a:normAutofit/>
          </a:bodyPr>
          <a:lstStyle/>
          <a:p>
            <a:pPr marL="114300" indent="0">
              <a:lnSpc>
                <a:spcPct val="100000"/>
              </a:lnSpc>
              <a:buNone/>
            </a:pPr>
            <a:r>
              <a:rPr lang="en-US" sz="2400" dirty="0"/>
              <a:t>The company needs a database system that can store and analyze retail data efficiently. The objective is to use SQL queries to identify top customers, best-selling products, sales trends, and supplier performance, enabling data-driven decision-making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362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A6CD4-EE7D-6316-B46E-C061F3828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167"/>
            <a:ext cx="10515600" cy="65887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Tables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418B22-4599-C7C1-2D62-7FEF50810B57}"/>
              </a:ext>
            </a:extLst>
          </p:cNvPr>
          <p:cNvSpPr txBox="1"/>
          <p:nvPr/>
        </p:nvSpPr>
        <p:spPr>
          <a:xfrm>
            <a:off x="1157590" y="1593981"/>
            <a:ext cx="27723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 Table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 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E24DDF-71BC-1CCB-5DE9-3CABBEE04719}"/>
              </a:ext>
            </a:extLst>
          </p:cNvPr>
          <p:cNvSpPr txBox="1"/>
          <p:nvPr/>
        </p:nvSpPr>
        <p:spPr>
          <a:xfrm>
            <a:off x="1157589" y="3476593"/>
            <a:ext cx="2772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Categories Table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A8A264-F484-06B8-9D5A-072F8D1E4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458" y="1186901"/>
            <a:ext cx="4906800" cy="11023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6AC602-C22D-84DF-8C8B-09F463C11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458" y="3363470"/>
            <a:ext cx="4906800" cy="11023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218D47-FCCD-081F-0008-5BB5B45252BC}"/>
              </a:ext>
            </a:extLst>
          </p:cNvPr>
          <p:cNvSpPr txBox="1"/>
          <p:nvPr/>
        </p:nvSpPr>
        <p:spPr>
          <a:xfrm>
            <a:off x="1157589" y="5152103"/>
            <a:ext cx="295229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Table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BA4A18-2EE2-77A8-1161-5C202953E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458" y="4818380"/>
            <a:ext cx="4917835" cy="1296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082044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71EA4-461B-7569-5004-F96688A88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1E106-AC7D-1092-0E46-9D647BA42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167"/>
            <a:ext cx="10515600" cy="65887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Tables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D442EC-46E2-ECB1-647A-227427A941BD}"/>
              </a:ext>
            </a:extLst>
          </p:cNvPr>
          <p:cNvSpPr txBox="1"/>
          <p:nvPr/>
        </p:nvSpPr>
        <p:spPr>
          <a:xfrm>
            <a:off x="838200" y="1461658"/>
            <a:ext cx="36239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Employes Table </a:t>
            </a:r>
            <a:endParaRPr lang="en-IN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E44F4C-0AA8-44BD-3A89-7C47A3D20C87}"/>
              </a:ext>
            </a:extLst>
          </p:cNvPr>
          <p:cNvSpPr txBox="1"/>
          <p:nvPr/>
        </p:nvSpPr>
        <p:spPr>
          <a:xfrm>
            <a:off x="838200" y="3148803"/>
            <a:ext cx="27723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Table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0C6A9A-BB74-5625-008C-5804D573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180" y="1087573"/>
            <a:ext cx="4905606" cy="11023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267CC3-651D-FD5D-5270-B7FD13E0D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065" y="2878200"/>
            <a:ext cx="4917835" cy="1101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EC7E76-06AA-FE7A-A6A1-33505D8BD52E}"/>
              </a:ext>
            </a:extLst>
          </p:cNvPr>
          <p:cNvSpPr txBox="1"/>
          <p:nvPr/>
        </p:nvSpPr>
        <p:spPr>
          <a:xfrm>
            <a:off x="1025013" y="4916129"/>
            <a:ext cx="277238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Table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25F7C7-7955-53FB-FF90-5DB0639A8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951" y="4606683"/>
            <a:ext cx="4917835" cy="1296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513175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742DA-929E-03A8-5BD2-BF30BCA21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74E78-CB6C-B179-A7B9-888171341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167"/>
            <a:ext cx="10515600" cy="65887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Tables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F481AC-EDDD-5CF2-63E7-0D3BCDED6CA8}"/>
              </a:ext>
            </a:extLst>
          </p:cNvPr>
          <p:cNvSpPr txBox="1"/>
          <p:nvPr/>
        </p:nvSpPr>
        <p:spPr>
          <a:xfrm>
            <a:off x="1157591" y="2106990"/>
            <a:ext cx="36239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Leaves Table 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3984FF-35FA-08D7-AB1A-34196094A403}"/>
              </a:ext>
            </a:extLst>
          </p:cNvPr>
          <p:cNvSpPr txBox="1"/>
          <p:nvPr/>
        </p:nvSpPr>
        <p:spPr>
          <a:xfrm>
            <a:off x="1157591" y="4717916"/>
            <a:ext cx="2772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Payroll Table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5ED952-E821-70B8-1810-2104CB4D9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545" y="1236856"/>
            <a:ext cx="5004482" cy="1701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320101-AC97-C017-EBBE-F0D0A7E17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040" y="3823953"/>
            <a:ext cx="4477926" cy="212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059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C8996-82D5-399A-01C0-096487A4B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0298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ER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B7555F-9AC7-76BF-D4F4-09BD470DC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296" y="897102"/>
            <a:ext cx="9043219" cy="41630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09B62C-D531-C33D-6274-E2BDFCDD5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811" y="5238524"/>
            <a:ext cx="6106377" cy="16194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85769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33CDD-A1B7-D97E-7E6C-EFC7F4D27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1F8CFF8-7A74-A306-036E-08EDE9BDDB56}"/>
              </a:ext>
            </a:extLst>
          </p:cNvPr>
          <p:cNvGrpSpPr/>
          <p:nvPr/>
        </p:nvGrpSpPr>
        <p:grpSpPr>
          <a:xfrm>
            <a:off x="1044924" y="15336"/>
            <a:ext cx="10302621" cy="5977882"/>
            <a:chOff x="479316" y="-267468"/>
            <a:chExt cx="10302621" cy="597788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32B91A6-0AFC-9212-E22D-A0AC6DF2FB9F}"/>
                </a:ext>
              </a:extLst>
            </p:cNvPr>
            <p:cNvSpPr txBox="1"/>
            <p:nvPr/>
          </p:nvSpPr>
          <p:spPr>
            <a:xfrm>
              <a:off x="3399840" y="-267468"/>
              <a:ext cx="44116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200" b="1" u="sng" dirty="0">
                  <a:solidFill>
                    <a:srgbClr val="FF0000"/>
                  </a:solidFill>
                </a:rPr>
                <a:t> Queries 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7A9FA12-E0E0-30DF-5B3F-7EA299AC1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9316" y="1035329"/>
              <a:ext cx="4785560" cy="114171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noFill/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F58D730-B6AA-6387-5D7A-9DA11F49D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0420" y="1197883"/>
              <a:ext cx="2211517" cy="625326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7541529-A9E1-AC84-4109-EB558DD51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0290" y="2722474"/>
              <a:ext cx="4734586" cy="80973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noFill/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F061159-6EC0-0120-6199-0D5B0BED3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99783" y="2362051"/>
              <a:ext cx="1552792" cy="1066949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noFill/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C7C1930-BBDF-3B51-B987-D2791DF1E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3315" y="4077645"/>
              <a:ext cx="4661561" cy="1247949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5871764-15F0-04BA-0EF8-A96785860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947415" y="3881359"/>
              <a:ext cx="1457528" cy="1829055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B9DB6AA-3583-5556-46AB-CEDAC7FD26CE}"/>
              </a:ext>
            </a:extLst>
          </p:cNvPr>
          <p:cNvSpPr txBox="1"/>
          <p:nvPr/>
        </p:nvSpPr>
        <p:spPr>
          <a:xfrm>
            <a:off x="1044924" y="990127"/>
            <a:ext cx="46586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/>
              <a:t>1.How many unique customers have placed orders 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656C34-1E27-3824-DACC-4B27D7908B00}"/>
              </a:ext>
            </a:extLst>
          </p:cNvPr>
          <p:cNvSpPr txBox="1"/>
          <p:nvPr/>
        </p:nvSpPr>
        <p:spPr>
          <a:xfrm>
            <a:off x="1044924" y="2644855"/>
            <a:ext cx="59554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/>
              <a:t>2.What is the relationship between quantity ordered and total price 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EB71FA-B865-DEB3-4E7C-5E7F4A795CD2}"/>
              </a:ext>
            </a:extLst>
          </p:cNvPr>
          <p:cNvSpPr txBox="1"/>
          <p:nvPr/>
        </p:nvSpPr>
        <p:spPr>
          <a:xfrm>
            <a:off x="1044924" y="4010274"/>
            <a:ext cx="55419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/>
              <a:t>3.Which customers have placed the highest number of orders?</a:t>
            </a:r>
          </a:p>
        </p:txBody>
      </p:sp>
    </p:spTree>
    <p:extLst>
      <p:ext uri="{BB962C8B-B14F-4D97-AF65-F5344CB8AC3E}">
        <p14:creationId xmlns:p14="http://schemas.microsoft.com/office/powerpoint/2010/main" val="1823548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7E9E6-1F5E-B3BA-C8CD-6D19496FD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758D91-A4EF-CDD5-77D9-432C9B48316F}"/>
              </a:ext>
            </a:extLst>
          </p:cNvPr>
          <p:cNvSpPr txBox="1"/>
          <p:nvPr/>
        </p:nvSpPr>
        <p:spPr>
          <a:xfrm>
            <a:off x="3452569" y="81782"/>
            <a:ext cx="4513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>
                <a:solidFill>
                  <a:srgbClr val="FF0000"/>
                </a:solidFill>
              </a:rPr>
              <a:t> Queries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E216C0-701B-634D-C2BC-5B08CC20E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41" y="1149941"/>
            <a:ext cx="5372850" cy="18290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00D3E5-B9C8-3983-06C7-29500685E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274" y="1659434"/>
            <a:ext cx="2372868" cy="6124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1A83C3-1094-C178-6EAE-106DC5716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64" y="3868523"/>
            <a:ext cx="5234804" cy="16245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9CAD39-37FD-C633-4BBD-03EC758B16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8274" y="3868523"/>
            <a:ext cx="2372868" cy="11807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678E809-E9CC-7DF5-02F3-F5ECA9A9A260}"/>
              </a:ext>
            </a:extLst>
          </p:cNvPr>
          <p:cNvSpPr txBox="1"/>
          <p:nvPr/>
        </p:nvSpPr>
        <p:spPr>
          <a:xfrm>
            <a:off x="587477" y="842164"/>
            <a:ext cx="561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/>
              <a:t>4.How do order patterns vary across weekdays and weekends 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5C7E66-05AC-CDA1-3040-487ECE6DF9BE}"/>
              </a:ext>
            </a:extLst>
          </p:cNvPr>
          <p:cNvSpPr txBox="1"/>
          <p:nvPr/>
        </p:nvSpPr>
        <p:spPr>
          <a:xfrm>
            <a:off x="619241" y="3571228"/>
            <a:ext cx="41793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/>
              <a:t>5.Which supplier provides the most products ?</a:t>
            </a:r>
          </a:p>
        </p:txBody>
      </p:sp>
    </p:spTree>
    <p:extLst>
      <p:ext uri="{BB962C8B-B14F-4D97-AF65-F5344CB8AC3E}">
        <p14:creationId xmlns:p14="http://schemas.microsoft.com/office/powerpoint/2010/main" val="2830220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316BE-AFB2-C84A-0CBB-A233DE185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8DAFD7-38B4-4E3C-1D88-197708ACF8B3}"/>
              </a:ext>
            </a:extLst>
          </p:cNvPr>
          <p:cNvSpPr txBox="1"/>
          <p:nvPr/>
        </p:nvSpPr>
        <p:spPr>
          <a:xfrm>
            <a:off x="3452569" y="81782"/>
            <a:ext cx="4513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>
                <a:solidFill>
                  <a:srgbClr val="FF0000"/>
                </a:solidFill>
              </a:rPr>
              <a:t>Queries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70048B-B022-FD31-A779-9D9983E6F901}"/>
              </a:ext>
            </a:extLst>
          </p:cNvPr>
          <p:cNvSpPr txBox="1"/>
          <p:nvPr/>
        </p:nvSpPr>
        <p:spPr>
          <a:xfrm>
            <a:off x="587477" y="842164"/>
            <a:ext cx="5973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/>
              <a:t>6.Which products have the highest total sales volume (by quantity)?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458FF4-F053-B67F-0273-55861C663198}"/>
              </a:ext>
            </a:extLst>
          </p:cNvPr>
          <p:cNvSpPr txBox="1"/>
          <p:nvPr/>
        </p:nvSpPr>
        <p:spPr>
          <a:xfrm>
            <a:off x="587477" y="2322921"/>
            <a:ext cx="3615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/>
              <a:t>7.What is the average value per order 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3179CA-942D-A60F-4792-A70D68602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322" y="1364922"/>
            <a:ext cx="4610743" cy="7335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A2284E-171D-8132-82F0-F0DB5FB74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0139" y="842164"/>
            <a:ext cx="1991003" cy="23530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6E4044-093B-220B-0FEE-8CE621BB7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426" y="2707642"/>
            <a:ext cx="3238952" cy="16480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EB6C8F0-B615-F379-9E2A-75ECAC45AD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5649" y="3454725"/>
            <a:ext cx="2568938" cy="5847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8006F0A-6E13-AC55-AE63-A22E33F10E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477" y="4872676"/>
            <a:ext cx="6220693" cy="11431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035EE38-7850-948C-433E-279C49500D1C}"/>
              </a:ext>
            </a:extLst>
          </p:cNvPr>
          <p:cNvSpPr txBox="1"/>
          <p:nvPr/>
        </p:nvSpPr>
        <p:spPr>
          <a:xfrm>
            <a:off x="587477" y="4432641"/>
            <a:ext cx="5404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/>
              <a:t>8.What are the monthly trends in order volume and revenue ?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2A2DEC7-3A0D-10AB-3252-7D4144DB07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0139" y="4241233"/>
            <a:ext cx="2057687" cy="19763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92595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0DB9B-058F-4DE9-213A-39444338E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5172F8-F80A-1971-D5D1-0E7933FEB718}"/>
              </a:ext>
            </a:extLst>
          </p:cNvPr>
          <p:cNvSpPr txBox="1"/>
          <p:nvPr/>
        </p:nvSpPr>
        <p:spPr>
          <a:xfrm>
            <a:off x="3452569" y="81782"/>
            <a:ext cx="4513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>
                <a:solidFill>
                  <a:srgbClr val="FF0000"/>
                </a:solidFill>
              </a:rPr>
              <a:t> Queries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F193B4-A78E-AB3A-2D51-E1366483B358}"/>
              </a:ext>
            </a:extLst>
          </p:cNvPr>
          <p:cNvSpPr txBox="1"/>
          <p:nvPr/>
        </p:nvSpPr>
        <p:spPr>
          <a:xfrm>
            <a:off x="587477" y="842164"/>
            <a:ext cx="51251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/>
              <a:t>9.What is the average order value handled per employee 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9C8BE5-67DB-FFE8-9874-32999E344F3D}"/>
              </a:ext>
            </a:extLst>
          </p:cNvPr>
          <p:cNvSpPr txBox="1"/>
          <p:nvPr/>
        </p:nvSpPr>
        <p:spPr>
          <a:xfrm>
            <a:off x="619241" y="3571228"/>
            <a:ext cx="5392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/>
              <a:t>10.How does the unit price vary across products and orders 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07B765-AF89-8BEE-E6C4-FCCAA271B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640" y="1295769"/>
            <a:ext cx="4277322" cy="19910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079F32-2E61-737E-077C-38B4DCBDD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274" y="1149941"/>
            <a:ext cx="2067213" cy="19052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A6CC07-FCF4-C5FB-B4EB-A59FD2B1D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274" y="3571228"/>
            <a:ext cx="2324424" cy="24387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ADFAF3C-FAF5-E1A1-A12D-A5B65194AA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518" y="4054612"/>
            <a:ext cx="6639093" cy="12479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49506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8CD1D-3BE8-8C74-FB99-57C6E28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204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Key Insights</a:t>
            </a:r>
            <a:r>
              <a:rPr lang="en-US" sz="36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EDD27-C91D-432F-D1B0-7270E35A6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/>
          </a:bodyPr>
          <a:lstStyle/>
          <a:p>
            <a:r>
              <a:rPr lang="en-IN" sz="2400" dirty="0"/>
              <a:t>Increased sales tracking and monitoring </a:t>
            </a:r>
          </a:p>
          <a:p>
            <a:r>
              <a:rPr lang="en-IN" sz="2400" dirty="0"/>
              <a:t>Reduced manual work and errors</a:t>
            </a:r>
          </a:p>
          <a:p>
            <a:r>
              <a:rPr lang="en-IN" sz="2400" dirty="0"/>
              <a:t> Improved stock management </a:t>
            </a:r>
          </a:p>
          <a:p>
            <a:r>
              <a:rPr lang="en-IN" sz="2400" dirty="0"/>
              <a:t>Faster billing process</a:t>
            </a:r>
          </a:p>
          <a:p>
            <a:r>
              <a:rPr lang="en-IN" sz="2400" dirty="0"/>
              <a:t> Avoided out-of-stock products</a:t>
            </a:r>
          </a:p>
          <a:p>
            <a:r>
              <a:rPr lang="en-IN" sz="2400" dirty="0"/>
              <a:t> Managed product details easily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69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987D6-E05A-9C14-0ACA-EEFEF485B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CONCLUSION: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01B1D-7194-9144-23A6-87E203DB6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88605"/>
            <a:ext cx="10815536" cy="273591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dirty="0"/>
              <a:t>The </a:t>
            </a:r>
            <a:r>
              <a:rPr lang="en-IN" b="1" dirty="0"/>
              <a:t>Grocery Store Management System</a:t>
            </a:r>
            <a:r>
              <a:rPr lang="en-IN" dirty="0"/>
              <a:t> helps manage daily store operations in an easy and efficient way. It reduces manual work, improves inventory tracking, speeds up billing, and helps maintain accurate sales records.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747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A295F-5922-647C-C445-538ACB24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Recommendations: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74536-4B4E-92EE-1DB9-2017117E1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Implement automatic stock alerts to avoid out-of-stock products. </a:t>
            </a:r>
          </a:p>
          <a:p>
            <a:r>
              <a:rPr lang="en-IN" sz="2400" dirty="0"/>
              <a:t>Maintain regular updates of product and inventory data. </a:t>
            </a:r>
          </a:p>
          <a:p>
            <a:r>
              <a:rPr lang="en-IN" sz="2400" dirty="0"/>
              <a:t>Use sales reports to identify top-selling products. </a:t>
            </a:r>
          </a:p>
          <a:p>
            <a:r>
              <a:rPr lang="en-IN" sz="2400" dirty="0"/>
              <a:t>Improve billing speed to enhance customer experience.</a:t>
            </a:r>
          </a:p>
          <a:p>
            <a:r>
              <a:rPr lang="en-IN" sz="2400" dirty="0"/>
              <a:t> Track expiry dates to reduce product wastage.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8573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7B26627-1FDE-C945-24FB-0127A34C576C}"/>
              </a:ext>
            </a:extLst>
          </p:cNvPr>
          <p:cNvGrpSpPr/>
          <p:nvPr/>
        </p:nvGrpSpPr>
        <p:grpSpPr>
          <a:xfrm>
            <a:off x="1951348" y="1951347"/>
            <a:ext cx="7117237" cy="2777729"/>
            <a:chOff x="1951348" y="1951347"/>
            <a:chExt cx="7117237" cy="277772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83EE283-94FA-F28D-B0B6-B039468AF7BB}"/>
                </a:ext>
              </a:extLst>
            </p:cNvPr>
            <p:cNvSpPr txBox="1"/>
            <p:nvPr/>
          </p:nvSpPr>
          <p:spPr>
            <a:xfrm>
              <a:off x="1951348" y="2139883"/>
              <a:ext cx="7117237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5000" dirty="0">
                  <a:solidFill>
                    <a:srgbClr val="FF0000"/>
                  </a:solidFill>
                </a:rPr>
                <a:t>Q</a:t>
              </a:r>
              <a:r>
                <a:rPr lang="en-IN" sz="15000" dirty="0"/>
                <a:t>/A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D41456E-B2EE-443D-46B3-90AA4067B4AE}"/>
                </a:ext>
              </a:extLst>
            </p:cNvPr>
            <p:cNvSpPr txBox="1"/>
            <p:nvPr/>
          </p:nvSpPr>
          <p:spPr>
            <a:xfrm>
              <a:off x="4656842" y="1951347"/>
              <a:ext cx="24509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200" b="1" dirty="0">
                  <a:solidFill>
                    <a:srgbClr val="FF0000"/>
                  </a:solidFill>
                </a:rPr>
                <a:t>Question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98562BE-C23B-56C0-E8ED-8C3620FCD274}"/>
                </a:ext>
              </a:extLst>
            </p:cNvPr>
            <p:cNvSpPr txBox="1"/>
            <p:nvPr/>
          </p:nvSpPr>
          <p:spPr>
            <a:xfrm>
              <a:off x="4656842" y="4144301"/>
              <a:ext cx="20173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200" b="1" dirty="0"/>
                <a:t>Answers</a:t>
              </a:r>
              <a:endParaRPr lang="en-IN" sz="32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9261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1519</TotalTime>
  <Words>448</Words>
  <Application>Microsoft Office PowerPoint</Application>
  <PresentationFormat>Widescreen</PresentationFormat>
  <Paragraphs>78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Times New Roman</vt:lpstr>
      <vt:lpstr>Arial</vt:lpstr>
      <vt:lpstr>Libre Baskerville</vt:lpstr>
      <vt:lpstr>Lato Black</vt:lpstr>
      <vt:lpstr>Calibri</vt:lpstr>
      <vt:lpstr>Office Theme</vt:lpstr>
      <vt:lpstr>PowerPoint Presentation</vt:lpstr>
      <vt:lpstr>About me: </vt:lpstr>
      <vt:lpstr>Agenda</vt:lpstr>
      <vt:lpstr>Business Problem:</vt:lpstr>
      <vt:lpstr>Problem Statement:</vt:lpstr>
      <vt:lpstr>Tables</vt:lpstr>
      <vt:lpstr>Tables</vt:lpstr>
      <vt:lpstr>Tables</vt:lpstr>
      <vt:lpstr>ER DIAGRAM</vt:lpstr>
      <vt:lpstr>PowerPoint Presentation</vt:lpstr>
      <vt:lpstr>PowerPoint Presentation</vt:lpstr>
      <vt:lpstr>PowerPoint Presentation</vt:lpstr>
      <vt:lpstr>PowerPoint Presentation</vt:lpstr>
      <vt:lpstr>Key Insights:</vt:lpstr>
      <vt:lpstr>CONCLUSION:</vt:lpstr>
      <vt:lpstr>Recommendations: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keshav raj</cp:lastModifiedBy>
  <cp:revision>31</cp:revision>
  <dcterms:created xsi:type="dcterms:W3CDTF">2021-02-16T05:19:01Z</dcterms:created>
  <dcterms:modified xsi:type="dcterms:W3CDTF">2026-06-19T17:11:03Z</dcterms:modified>
</cp:coreProperties>
</file>